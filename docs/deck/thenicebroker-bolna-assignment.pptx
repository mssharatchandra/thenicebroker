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8f1772b2424358" /><Relationship Type="http://schemas.openxmlformats.org/officeDocument/2006/relationships/extended-properties" Target="/docProps/app.xml" Id="R0bd0e6efbcb547f8" /><Relationship Type="http://schemas.openxmlformats.org/officeDocument/2006/relationships/officeDocument" Target="/ppt/presentation.xml" Id="R9a294e845e8c49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8762ace3414193"/>
  </p:sldMasterIdLst>
  <p:notesMasterIdLst>
    <p:notesMasterId xmlns:r="http://schemas.openxmlformats.org/officeDocument/2006/relationships" r:id="Rc3c505cf94cf428c"/>
  </p:notesMasterIdLst>
  <p:sldIdLst>
    <p:sldId xmlns:r="http://schemas.openxmlformats.org/officeDocument/2006/relationships" id="256" r:id="R2f8da0483d6a448b"/>
    <p:sldId xmlns:r="http://schemas.openxmlformats.org/officeDocument/2006/relationships" id="257" r:id="Re143515f31a74b39"/>
    <p:sldId xmlns:r="http://schemas.openxmlformats.org/officeDocument/2006/relationships" id="258" r:id="Raee3a6ad3dc24e37"/>
    <p:sldId xmlns:r="http://schemas.openxmlformats.org/officeDocument/2006/relationships" id="259" r:id="Ra00dde6774984a3e"/>
    <p:sldId xmlns:r="http://schemas.openxmlformats.org/officeDocument/2006/relationships" id="260" r:id="R8c73605e6140406d"/>
    <p:sldId xmlns:r="http://schemas.openxmlformats.org/officeDocument/2006/relationships" id="261" r:id="R4000ab3850a941b4"/>
    <p:sldId xmlns:r="http://schemas.openxmlformats.org/officeDocument/2006/relationships" id="262" r:id="R2b775df158c64ff5"/>
    <p:sldId xmlns:r="http://schemas.openxmlformats.org/officeDocument/2006/relationships" id="263" r:id="Rf6d6e3394a164101"/>
    <p:sldId xmlns:r="http://schemas.openxmlformats.org/officeDocument/2006/relationships" id="264" r:id="R7a4ab866635a4f6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762ace3414193" /><Relationship Type="http://schemas.openxmlformats.org/officeDocument/2006/relationships/theme" Target="/ppt/theme/theme1.xml" Id="R295819b5999146a9" /><Relationship Type="http://schemas.openxmlformats.org/officeDocument/2006/relationships/notesMaster" Target="/ppt/notesMasters/notesMaster1.xml" Id="Rc3c505cf94cf428c" /><Relationship Type="http://schemas.openxmlformats.org/officeDocument/2006/relationships/presProps" Target="/ppt/presProps.xml" Id="R0acdcdad1fa944e9" /><Relationship Type="http://schemas.openxmlformats.org/officeDocument/2006/relationships/viewProps" Target="/ppt/viewProps.xml" Id="Rcfe5c2c023474af8" /><Relationship Type="http://schemas.openxmlformats.org/officeDocument/2006/relationships/tableStyles" Target="/ppt/tableStyles.xml" Id="Rec424a2d5cfa47d5" /><Relationship Type="http://schemas.openxmlformats.org/officeDocument/2006/relationships/slide" Target="/ppt/slides/slide1.xml" Id="R2f8da0483d6a448b" /><Relationship Type="http://schemas.openxmlformats.org/officeDocument/2006/relationships/slide" Target="/ppt/slides/slide2.xml" Id="Re143515f31a74b39" /><Relationship Type="http://schemas.openxmlformats.org/officeDocument/2006/relationships/slide" Target="/ppt/slides/slide3.xml" Id="Raee3a6ad3dc24e37" /><Relationship Type="http://schemas.openxmlformats.org/officeDocument/2006/relationships/slide" Target="/ppt/slides/slide4.xml" Id="Ra00dde6774984a3e" /><Relationship Type="http://schemas.openxmlformats.org/officeDocument/2006/relationships/slide" Target="/ppt/slides/slide5.xml" Id="R8c73605e6140406d" /><Relationship Type="http://schemas.openxmlformats.org/officeDocument/2006/relationships/slide" Target="/ppt/slides/slide6.xml" Id="R4000ab3850a941b4" /><Relationship Type="http://schemas.openxmlformats.org/officeDocument/2006/relationships/slide" Target="/ppt/slides/slide7.xml" Id="R2b775df158c64ff5" /><Relationship Type="http://schemas.openxmlformats.org/officeDocument/2006/relationships/slide" Target="/ppt/slides/slide8.xml" Id="Rf6d6e3394a164101" /><Relationship Type="http://schemas.openxmlformats.org/officeDocument/2006/relationships/slide" Target="/ppt/slides/slide9.xml" Id="R7a4ab866635a4f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1b20424291548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3eb6a2630745c7" /><Relationship Type="http://schemas.openxmlformats.org/officeDocument/2006/relationships/notesMaster" Target="/ppt/notesMasters/notesMaster1.xml" Id="R1696e315e2f147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b258239bec43f7" /><Relationship Type="http://schemas.openxmlformats.org/officeDocument/2006/relationships/notesMaster" Target="/ppt/notesMasters/notesMaster1.xml" Id="R222469bcd2524a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24984aa42545be" /><Relationship Type="http://schemas.openxmlformats.org/officeDocument/2006/relationships/notesMaster" Target="/ppt/notesMasters/notesMaster1.xml" Id="R2ccb2a669b194c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6273b50db74a49" /><Relationship Type="http://schemas.openxmlformats.org/officeDocument/2006/relationships/notesMaster" Target="/ppt/notesMasters/notesMaster1.xml" Id="Re271dc83f0e840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7259b8a9534e6e" /><Relationship Type="http://schemas.openxmlformats.org/officeDocument/2006/relationships/notesMaster" Target="/ppt/notesMasters/notesMaster1.xml" Id="R3275fddf09df46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b70142dee84471" /><Relationship Type="http://schemas.openxmlformats.org/officeDocument/2006/relationships/notesMaster" Target="/ppt/notesMasters/notesMaster1.xml" Id="R35adf9a8b2c54c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e523729f4c4fce" /><Relationship Type="http://schemas.openxmlformats.org/officeDocument/2006/relationships/notesMaster" Target="/ppt/notesMasters/notesMaster1.xml" Id="R8fafac638e2a46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de7b45773b44dd" /><Relationship Type="http://schemas.openxmlformats.org/officeDocument/2006/relationships/notesMaster" Target="/ppt/notesMasters/notesMaster1.xml" Id="Ra1b400b3448e4b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838faaa5964577" /><Relationship Type="http://schemas.openxmlformats.org/officeDocument/2006/relationships/notesMaster" Target="/ppt/notesMasters/notesMaster1.xml" Id="Rfcba1e4d411040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28ae4ca13477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73a730ac0a34581" /><Relationship Type="http://schemas.openxmlformats.org/officeDocument/2006/relationships/slideLayout" Target="/ppt/slideLayouts/slideLayout2.xml" Id="Rffc8dfcd40a543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c8dfcd40a543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d159fa9a224163" /><Relationship Type="http://schemas.openxmlformats.org/officeDocument/2006/relationships/notesSlide" Target="/ppt/notesSlides/notesSlide1.xml" Id="Reae0e0c7f77649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ce30bb71474d04" /><Relationship Type="http://schemas.openxmlformats.org/officeDocument/2006/relationships/notesSlide" Target="/ppt/notesSlides/notesSlide2.xml" Id="Rbb0d077e6c8542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33ce5df51a41f7" /><Relationship Type="http://schemas.openxmlformats.org/officeDocument/2006/relationships/notesSlide" Target="/ppt/notesSlides/notesSlide3.xml" Id="Red8e06c4413c4d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a6b0ce03514a28" /><Relationship Type="http://schemas.openxmlformats.org/officeDocument/2006/relationships/notesSlide" Target="/ppt/notesSlides/notesSlide4.xml" Id="R7643474645634d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142c64bab4176" /><Relationship Type="http://schemas.openxmlformats.org/officeDocument/2006/relationships/notesSlide" Target="/ppt/notesSlides/notesSlide5.xml" Id="R7a89958f3c0f43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f6950fc7ae4056" /><Relationship Type="http://schemas.openxmlformats.org/officeDocument/2006/relationships/notesSlide" Target="/ppt/notesSlides/notesSlide6.xml" Id="R1654a7a673d748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777748a481463c" /><Relationship Type="http://schemas.openxmlformats.org/officeDocument/2006/relationships/notesSlide" Target="/ppt/notesSlides/notesSlide7.xml" Id="Rfc2026b427c5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2b3e99fe4646b9" /><Relationship Type="http://schemas.openxmlformats.org/officeDocument/2006/relationships/chart" Target="/ppt/slides/charts/chart1.xml" Id="Rbdd5c294cc034d3a" /><Relationship Type="http://schemas.openxmlformats.org/officeDocument/2006/relationships/notesSlide" Target="/ppt/notesSlides/notesSlide8.xml" Id="R76c42f5ddb9f47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5c44a7c43346e5" /><Relationship Type="http://schemas.openxmlformats.org/officeDocument/2006/relationships/notesSlide" Target="/ppt/notesSlides/notesSlide9.xml" Id="R392e31aec5984966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INR</c:v>
          </c:tx>
          <c:cat>
            <c:strLit>
              <c:ptCount val="2"/>
              <c:pt idx="0">
                <c:v>RM baseline</c:v>
              </c:pt>
              <c:pt idx="1">
                <c:v>AI concierge</c:v>
              </c:pt>
            </c:strLit>
          </c:cat>
          <c:val>
            <c:numLit>
              <c:formatCode/>
              <c:ptCount val="2"/>
              <c:pt idx="0">
                <c:v>280</c:v>
              </c:pt>
              <c:pt idx="1">
                <c:v>15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707FCB5-F4CF-46B8-8264-18105E9D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6"/>
          </a:solidFill>
          <a:ln xmlns:a="http://schemas.openxmlformats.org/drawingml/2006/main" w="0">
            <a:solidFill>
              <a:srgbClr val="171A16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D0A27B-DF9D-4946-97ED-706CB014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70866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FDF7"/>
                </a:solidFill>
              </a:defRPr>
            </a:pPr>
            <a:r>
              <a:rPr sz="7800" b="1">
                <a:solidFill>
                  <a:srgbClr val="FFFDF7"/>
                </a:solidFill>
              </a:rPr>
              <a:t>TheNiceBroker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57796DA0-76D2-445A-9503-F9C7E90B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1AD"/>
          </a:solidFill>
          <a:ln xmlns:a="http://schemas.openxmlformats.org/drawingml/2006/main" w="0">
            <a:solidFill>
              <a:srgbClr val="8ED1AD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D722F5-B816-485E-BADC-A3B7486C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15000"/>
            <a:ext cx="47244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DEEE5"/>
                </a:solidFill>
              </a:defRPr>
            </a:pPr>
            <a:r>
              <a:rPr sz="2550">
                <a:solidFill>
                  <a:srgbClr val="DDEEE5"/>
                </a:solidFill>
              </a:rPr>
              <a:t>An honest AI rental concierge for NoBroker-style marketplaces.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D5742F9-BA7F-48C4-9F7C-1189BEDE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53250"/>
            <a:ext cx="6838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CCBF"/>
                </a:solidFill>
              </a:defRPr>
            </a:pPr>
            <a:r>
              <a:rPr sz="1500">
                <a:solidFill>
                  <a:srgbClr val="B9CCBF"/>
                </a:solidFill>
              </a:rPr>
              <a:t>Bolna assignment artifact · Full Stack + AI Solutions Engineer + Founder's Office</a:t>
            </a:r>
          </a:p>
        </p:txBody>
      </p:sp>
      <p:sp>
        <p:nvSpPr>
          <p:cNvPr id="6" name="cover-band">
            <a:extLst xmlns:a="http://schemas.openxmlformats.org/drawingml/2006/main">
              <a:ext uri="{FF2B5EF4-FFF2-40B4-BE49-F238E27FC236}">
                <a16:creationId xmlns:a16="http://schemas.microsoft.com/office/drawing/2014/main" id="{A276F18A-F9DE-4504-A1C0-AA676AAE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5715000" cy="853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7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F6BF44E8-762D-42B5-94BA-9DD847A5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24300"/>
            <a:ext cx="74295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100" b="1">
                <a:solidFill>
                  <a:srgbClr val="FFFDF7"/>
                </a:solidFill>
              </a:defRPr>
            </a:pPr>
            <a:r>
              <a:rPr sz="11100" b="1">
                <a:solidFill>
                  <a:srgbClr val="FFFDF7"/>
                </a:solidFill>
              </a:rPr>
              <a:t>₹15</a:t>
            </a:r>
          </a:p>
        </p:txBody>
      </p:sp>
      <p:sp>
        <p:nvSpPr>
          <p:cNvPr id="8" name="cover-number-label">
            <a:extLst xmlns:a="http://schemas.openxmlformats.org/drawingml/2006/main">
              <a:ext uri="{FF2B5EF4-FFF2-40B4-BE49-F238E27FC236}">
                <a16:creationId xmlns:a16="http://schemas.microsoft.com/office/drawing/2014/main" id="{ED3CFDD4-D8ED-473E-A6E8-462DB95B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4864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DEEE5"/>
                </a:solidFill>
              </a:defRPr>
            </a:pPr>
            <a:r>
              <a:rPr sz="2100" b="1">
                <a:solidFill>
                  <a:srgbClr val="DDEEE5"/>
                </a:solidFill>
              </a:rPr>
              <a:t>AI call estimate</a:t>
            </a:r>
          </a:p>
        </p:txBody>
      </p:sp>
      <p:sp>
        <p:nvSpPr>
          <p:cNvPr id="9" name="cover-number-caption">
            <a:extLst xmlns:a="http://schemas.openxmlformats.org/drawingml/2006/main">
              <a:ext uri="{FF2B5EF4-FFF2-40B4-BE49-F238E27FC236}">
                <a16:creationId xmlns:a16="http://schemas.microsoft.com/office/drawing/2014/main" id="{7A729935-2177-4D87-8088-B925AE80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905500"/>
            <a:ext cx="4495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E8DF"/>
                </a:solidFill>
              </a:defRPr>
            </a:pPr>
            <a:r>
              <a:rPr sz="1800">
                <a:solidFill>
                  <a:srgbClr val="D9E8DF"/>
                </a:solidFill>
              </a:rPr>
              <a:t>The wedge: cut RM call load without cutting renter trust.</a:t>
            </a:r>
          </a:p>
        </p:txBody>
      </p:sp>
    </p:spTree>
    <p:extLst>
      <p:ext uri="{BB962C8B-B14F-4D97-AF65-F5344CB8AC3E}">
        <p14:creationId xmlns:p14="http://schemas.microsoft.com/office/powerpoint/2010/main" val="1394027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1FB0470-818E-493A-8C00-473C480C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1D3F77B-156A-4988-9235-CDC2344A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4E"/>
                </a:solidFill>
              </a:defRPr>
            </a:pPr>
            <a:r>
              <a:rPr sz="1350" b="1">
                <a:solidFill>
                  <a:srgbClr val="2F6F4E"/>
                </a:solidFill>
              </a:rPr>
              <a:t>1 · Enterprise use case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696BBE-D29F-4080-833D-1CE37BD9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96583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1A16"/>
                </a:solidFill>
              </a:defRPr>
            </a:pPr>
            <a:r>
              <a:rPr sz="4200" b="1">
                <a:solidFill>
                  <a:srgbClr val="171A16"/>
                </a:solidFill>
              </a:rPr>
              <a:t>NoBroker rentals are a better voice-AI wedge than builder sales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A06344-4C49-42BD-A4C1-C949E15F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934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46F65"/>
                </a:solidFill>
              </a:defRPr>
            </a:pPr>
            <a:r>
              <a:rPr sz="1875">
                <a:solidFill>
                  <a:srgbClr val="746F65"/>
                </a:solidFill>
              </a:rPr>
              <a:t>The agent can be the renter's advocate, not another salesperson.</a:t>
            </a:r>
          </a:p>
        </p:txBody>
      </p:sp>
      <p:sp>
        <p:nvSpPr>
          <p:cNvPr id="5" name="problem-number-Cost center">
            <a:extLst xmlns:a="http://schemas.openxmlformats.org/drawingml/2006/main">
              <a:ext uri="{FF2B5EF4-FFF2-40B4-BE49-F238E27FC236}">
                <a16:creationId xmlns:a16="http://schemas.microsoft.com/office/drawing/2014/main" id="{76594803-E106-4578-81CC-96F5578A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5200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B85C4D"/>
                </a:solidFill>
              </a:defRPr>
            </a:pPr>
            <a:r>
              <a:rPr sz="5700" b="1">
                <a:solidFill>
                  <a:srgbClr val="B85C4D"/>
                </a:solidFill>
              </a:rPr>
              <a:t>₹200-₹400</a:t>
            </a:r>
          </a:p>
        </p:txBody>
      </p:sp>
      <p:sp>
        <p:nvSpPr>
          <p:cNvPr id="6" name="problem-label-Cost center">
            <a:extLst xmlns:a="http://schemas.openxmlformats.org/drawingml/2006/main">
              <a:ext uri="{FF2B5EF4-FFF2-40B4-BE49-F238E27FC236}">
                <a16:creationId xmlns:a16="http://schemas.microsoft.com/office/drawing/2014/main" id="{2FEE3DF8-8439-42D6-9727-266EBB4A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520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A16"/>
                </a:solidFill>
              </a:defRPr>
            </a:pPr>
            <a:r>
              <a:rPr sz="2100" b="1">
                <a:solidFill>
                  <a:srgbClr val="171A16"/>
                </a:solidFill>
              </a:rPr>
              <a:t>Cost center</a:t>
            </a:r>
          </a:p>
        </p:txBody>
      </p:sp>
      <p:sp>
        <p:nvSpPr>
          <p:cNvPr id="7" name="problem-copy-Cost center">
            <a:extLst xmlns:a="http://schemas.openxmlformats.org/drawingml/2006/main">
              <a:ext uri="{FF2B5EF4-FFF2-40B4-BE49-F238E27FC236}">
                <a16:creationId xmlns:a16="http://schemas.microsoft.com/office/drawing/2014/main" id="{613281AD-BAA0-4C76-9E9C-6BD25902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00800"/>
            <a:ext cx="3981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46F65"/>
                </a:solidFill>
              </a:defRPr>
            </a:pPr>
            <a:r>
              <a:rPr sz="1725">
                <a:solidFill>
                  <a:srgbClr val="746F65"/>
                </a:solidFill>
              </a:rPr>
              <a:t>Relationship-manager calls scale linearly with rental demand.</a:t>
            </a:r>
          </a:p>
        </p:txBody>
      </p:sp>
      <p:sp>
        <p:nvSpPr>
          <p:cNvPr id="8" name="problem-number-Trust gap">
            <a:extLst xmlns:a="http://schemas.openxmlformats.org/drawingml/2006/main">
              <a:ext uri="{FF2B5EF4-FFF2-40B4-BE49-F238E27FC236}">
                <a16:creationId xmlns:a16="http://schemas.microsoft.com/office/drawing/2014/main" id="{A13ABBBE-1D67-4C65-8E03-1451D7A2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5200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3A634"/>
                </a:solidFill>
              </a:defRPr>
            </a:pPr>
            <a:r>
              <a:rPr sz="5700" b="1">
                <a:solidFill>
                  <a:srgbClr val="E3A634"/>
                </a:solidFill>
              </a:rPr>
              <a:t>caveats</a:t>
            </a:r>
          </a:p>
        </p:txBody>
      </p:sp>
      <p:sp>
        <p:nvSpPr>
          <p:cNvPr id="9" name="problem-label-Trust gap">
            <a:extLst xmlns:a="http://schemas.openxmlformats.org/drawingml/2006/main">
              <a:ext uri="{FF2B5EF4-FFF2-40B4-BE49-F238E27FC236}">
                <a16:creationId xmlns:a16="http://schemas.microsoft.com/office/drawing/2014/main" id="{2E4FBA2E-10DB-40BE-BB87-C0884C2B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943600"/>
            <a:ext cx="520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A16"/>
                </a:solidFill>
              </a:defRPr>
            </a:pPr>
            <a:r>
              <a:rPr sz="2100" b="1">
                <a:solidFill>
                  <a:srgbClr val="171A16"/>
                </a:solidFill>
              </a:rPr>
              <a:t>Trust gap</a:t>
            </a:r>
          </a:p>
        </p:txBody>
      </p:sp>
      <p:sp>
        <p:nvSpPr>
          <p:cNvPr id="10" name="problem-copy-Trust gap">
            <a:extLst xmlns:a="http://schemas.openxmlformats.org/drawingml/2006/main">
              <a:ext uri="{FF2B5EF4-FFF2-40B4-BE49-F238E27FC236}">
                <a16:creationId xmlns:a16="http://schemas.microsoft.com/office/drawing/2014/main" id="{3607FE42-EC8C-4E8F-B933-F97DEC33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400800"/>
            <a:ext cx="3924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46F65"/>
                </a:solidFill>
              </a:defRPr>
            </a:pPr>
            <a:r>
              <a:rPr sz="1725">
                <a:solidFill>
                  <a:srgbClr val="746F65"/>
                </a:solidFill>
              </a:rPr>
              <a:t>Renters need tradeoffs explained before they commit to visits.</a:t>
            </a:r>
          </a:p>
        </p:txBody>
      </p:sp>
      <p:sp>
        <p:nvSpPr>
          <p:cNvPr id="11" name="problem-number-Complex decisions">
            <a:extLst xmlns:a="http://schemas.openxmlformats.org/drawingml/2006/main">
              <a:ext uri="{FF2B5EF4-FFF2-40B4-BE49-F238E27FC236}">
                <a16:creationId xmlns:a16="http://schemas.microsoft.com/office/drawing/2014/main" id="{7AB659D9-C077-4EE1-8100-2B975FD2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914900"/>
            <a:ext cx="5200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4C8CAB"/>
                </a:solidFill>
              </a:defRPr>
            </a:pPr>
            <a:r>
              <a:rPr sz="5700" b="1">
                <a:solidFill>
                  <a:srgbClr val="4C8CAB"/>
                </a:solidFill>
              </a:rPr>
              <a:t>multi-axis</a:t>
            </a:r>
          </a:p>
        </p:txBody>
      </p:sp>
      <p:sp>
        <p:nvSpPr>
          <p:cNvPr id="12" name="problem-label-Complex decisions">
            <a:extLst xmlns:a="http://schemas.openxmlformats.org/drawingml/2006/main">
              <a:ext uri="{FF2B5EF4-FFF2-40B4-BE49-F238E27FC236}">
                <a16:creationId xmlns:a16="http://schemas.microsoft.com/office/drawing/2014/main" id="{68117BD1-0840-475B-9903-CC269EB0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829300"/>
            <a:ext cx="520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A16"/>
                </a:solidFill>
              </a:defRPr>
            </a:pPr>
            <a:r>
              <a:rPr sz="2100" b="1">
                <a:solidFill>
                  <a:srgbClr val="171A16"/>
                </a:solidFill>
              </a:rPr>
              <a:t>Complex decisions</a:t>
            </a:r>
          </a:p>
        </p:txBody>
      </p:sp>
      <p:sp>
        <p:nvSpPr>
          <p:cNvPr id="13" name="problem-copy-Complex decisions">
            <a:extLst xmlns:a="http://schemas.openxmlformats.org/drawingml/2006/main">
              <a:ext uri="{FF2B5EF4-FFF2-40B4-BE49-F238E27FC236}">
                <a16:creationId xmlns:a16="http://schemas.microsoft.com/office/drawing/2014/main" id="{0B427F70-67AD-47BD-B12B-7CB0F08B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286500"/>
            <a:ext cx="4019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46F65"/>
                </a:solidFill>
              </a:defRPr>
            </a:pPr>
            <a:r>
              <a:rPr sz="1725">
                <a:solidFill>
                  <a:srgbClr val="746F65"/>
                </a:solidFill>
              </a:rPr>
              <a:t>Marketplace inventory needs multi-listing comparison across 6-8 axes.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90F022CC-151B-465D-862F-AF241271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67850"/>
            <a:ext cx="1653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6F65"/>
                </a:solidFill>
              </a:defRPr>
            </a:pPr>
            <a:r>
              <a:rPr sz="1125">
                <a:solidFill>
                  <a:srgbClr val="746F65"/>
                </a:solidFill>
              </a:rPr>
              <a:t>Company/vertical: NoBroker · Bangalore rentals · inbound concierge</a:t>
            </a:r>
          </a:p>
        </p:txBody>
      </p:sp>
    </p:spTree>
    <p:extLst>
      <p:ext uri="{BB962C8B-B14F-4D97-AF65-F5344CB8AC3E}">
        <p14:creationId xmlns:p14="http://schemas.microsoft.com/office/powerpoint/2010/main" val="7848626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C6F9DE9-C33D-48FD-AE75-2B19A3DB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62D0BFC-5DA7-4266-8744-AF386687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4E"/>
                </a:solidFill>
              </a:defRPr>
            </a:pPr>
            <a:r>
              <a:rPr sz="1350" b="1">
                <a:solidFill>
                  <a:srgbClr val="2F6F4E"/>
                </a:solidFill>
              </a:rPr>
              <a:t>2 · Workflow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FB0B92-01F3-45C9-9F9B-3FEF16E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0934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1A16"/>
                </a:solidFill>
              </a:defRPr>
            </a:pPr>
            <a:r>
              <a:rPr sz="4200" b="1">
                <a:solidFill>
                  <a:srgbClr val="171A16"/>
                </a:solidFill>
              </a:rPr>
              <a:t>Caller → agent → backend tools → booked visit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689E7F-DC8C-4BF8-873A-702B2015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534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46F65"/>
                </a:solidFill>
              </a:defRPr>
            </a:pPr>
            <a:r>
              <a:rPr sz="1875">
                <a:solidFill>
                  <a:srgbClr val="746F65"/>
                </a:solidFill>
              </a:rPr>
              <a:t>A full-stack flow with the dashboard as the operating surface.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CB1DC7F1-5662-4A1D-A327-900A2856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102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6" name="flow-label">
            <a:extLst xmlns:a="http://schemas.openxmlformats.org/drawingml/2006/main">
              <a:ext uri="{FF2B5EF4-FFF2-40B4-BE49-F238E27FC236}">
                <a16:creationId xmlns:a16="http://schemas.microsoft.com/office/drawing/2014/main" id="{4DA4BB2E-DA5E-47F4-A10A-3ADF6363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A16"/>
                </a:solidFill>
              </a:defRPr>
            </a:pPr>
            <a:r>
              <a:rPr sz="3000" b="1">
                <a:solidFill>
                  <a:srgbClr val="171A16"/>
                </a:solidFill>
              </a:rPr>
              <a:t>Renter call</a:t>
            </a:r>
          </a:p>
        </p:txBody>
      </p:sp>
      <p:sp>
        <p:nvSpPr>
          <p:cNvPr id="7" name="flow-copy">
            <a:extLst xmlns:a="http://schemas.openxmlformats.org/drawingml/2006/main">
              <a:ext uri="{FF2B5EF4-FFF2-40B4-BE49-F238E27FC236}">
                <a16:creationId xmlns:a16="http://schemas.microsoft.com/office/drawing/2014/main" id="{BAEC0DE4-82CF-461B-A15F-F988B167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29350"/>
            <a:ext cx="2419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46F65"/>
                </a:solidFill>
              </a:defRPr>
            </a:pPr>
            <a:r>
              <a:rPr sz="1650">
                <a:solidFill>
                  <a:srgbClr val="746F65"/>
                </a:solidFill>
              </a:rPr>
              <a:t>Needs, budget, language, urgency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6D29D505-EC66-4A60-892C-EA323FE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29300"/>
            <a:ext cx="457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7D1C2"/>
                </a:solidFill>
              </a:defRPr>
            </a:pPr>
            <a:r>
              <a:rPr sz="3300" b="1">
                <a:solidFill>
                  <a:srgbClr val="D7D1C2"/>
                </a:solidFill>
              </a:rPr>
              <a:t>→</a:t>
            </a:r>
          </a:p>
        </p:txBody>
      </p:sp>
      <p:sp>
        <p:nvSpPr>
          <p:cNvPr id="9" name="flow-line">
            <a:extLst xmlns:a="http://schemas.openxmlformats.org/drawingml/2006/main">
              <a:ext uri="{FF2B5EF4-FFF2-40B4-BE49-F238E27FC236}">
                <a16:creationId xmlns:a16="http://schemas.microsoft.com/office/drawing/2014/main" id="{299D0103-3C67-47A7-9C45-1E380F67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102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AB"/>
          </a:solidFill>
          <a:ln xmlns:a="http://schemas.openxmlformats.org/drawingml/2006/main" w="0">
            <a:solidFill>
              <a:srgbClr val="4C8CAB"/>
            </a:solidFill>
            <a:prstDash val="solid"/>
          </a:ln>
        </p:spPr>
      </p:sp>
      <p:sp>
        <p:nvSpPr>
          <p:cNvPr id="10" name="flow-label">
            <a:extLst xmlns:a="http://schemas.openxmlformats.org/drawingml/2006/main">
              <a:ext uri="{FF2B5EF4-FFF2-40B4-BE49-F238E27FC236}">
                <a16:creationId xmlns:a16="http://schemas.microsoft.com/office/drawing/2014/main" id="{B472E9D4-CE4E-450D-B56B-FACA08A2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7690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A16"/>
                </a:solidFill>
              </a:defRPr>
            </a:pPr>
            <a:r>
              <a:rPr sz="3000" b="1">
                <a:solidFill>
                  <a:srgbClr val="171A16"/>
                </a:solidFill>
              </a:rPr>
              <a:t>Bolna agent</a:t>
            </a:r>
          </a:p>
        </p:txBody>
      </p:sp>
      <p:sp>
        <p:nvSpPr>
          <p:cNvPr id="11" name="flow-copy">
            <a:extLst xmlns:a="http://schemas.openxmlformats.org/drawingml/2006/main">
              <a:ext uri="{FF2B5EF4-FFF2-40B4-BE49-F238E27FC236}">
                <a16:creationId xmlns:a16="http://schemas.microsoft.com/office/drawing/2014/main" id="{7FA9FE46-FD27-4F79-854A-2C7D3074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229350"/>
            <a:ext cx="2705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46F65"/>
                </a:solidFill>
              </a:defRPr>
            </a:pPr>
            <a:r>
              <a:rPr sz="1650">
                <a:solidFill>
                  <a:srgbClr val="746F65"/>
                </a:solidFill>
              </a:rPr>
              <a:t>Advocate prompt + tool calls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0A6C456E-7A67-4FB3-991C-452E4D3E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29300"/>
            <a:ext cx="457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7D1C2"/>
                </a:solidFill>
              </a:defRPr>
            </a:pPr>
            <a:r>
              <a:rPr sz="3300" b="1">
                <a:solidFill>
                  <a:srgbClr val="D7D1C2"/>
                </a:solidFill>
              </a:rPr>
              <a:t>→</a:t>
            </a:r>
          </a:p>
        </p:txBody>
      </p:sp>
      <p:sp>
        <p:nvSpPr>
          <p:cNvPr id="13" name="flow-line">
            <a:extLst xmlns:a="http://schemas.openxmlformats.org/drawingml/2006/main">
              <a:ext uri="{FF2B5EF4-FFF2-40B4-BE49-F238E27FC236}">
                <a16:creationId xmlns:a16="http://schemas.microsoft.com/office/drawing/2014/main" id="{694CF3B8-4941-464B-9161-DDB7D90E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102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4"/>
          </a:solidFill>
          <a:ln xmlns:a="http://schemas.openxmlformats.org/drawingml/2006/main" w="0">
            <a:solidFill>
              <a:srgbClr val="E3A634"/>
            </a:solidFill>
            <a:prstDash val="solid"/>
          </a:ln>
        </p:spPr>
      </p:sp>
      <p:sp>
        <p:nvSpPr>
          <p:cNvPr id="14" name="flow-label">
            <a:extLst xmlns:a="http://schemas.openxmlformats.org/drawingml/2006/main">
              <a:ext uri="{FF2B5EF4-FFF2-40B4-BE49-F238E27FC236}">
                <a16:creationId xmlns:a16="http://schemas.microsoft.com/office/drawing/2014/main" id="{FADB5A4D-E6B9-43D3-A180-6532ABF4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7690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A16"/>
                </a:solidFill>
              </a:defRPr>
            </a:pPr>
            <a:r>
              <a:rPr sz="3000" b="1">
                <a:solidFill>
                  <a:srgbClr val="171A16"/>
                </a:solidFill>
              </a:rPr>
              <a:t>Next.js API</a:t>
            </a:r>
          </a:p>
        </p:txBody>
      </p:sp>
      <p:sp>
        <p:nvSpPr>
          <p:cNvPr id="15" name="flow-copy">
            <a:extLst xmlns:a="http://schemas.openxmlformats.org/drawingml/2006/main">
              <a:ext uri="{FF2B5EF4-FFF2-40B4-BE49-F238E27FC236}">
                <a16:creationId xmlns:a16="http://schemas.microsoft.com/office/drawing/2014/main" id="{A0679D6C-FB42-414C-ABAE-E1CF0445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22935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46F65"/>
                </a:solidFill>
              </a:defRPr>
            </a:pPr>
            <a:r>
              <a:rPr sz="1650">
                <a:solidFill>
                  <a:srgbClr val="746F65"/>
                </a:solidFill>
              </a:rPr>
              <a:t>Search, compare, book, summarize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04D17BAE-3961-4224-B6D7-B7C63BA4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5829300"/>
            <a:ext cx="457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7D1C2"/>
                </a:solidFill>
              </a:defRPr>
            </a:pPr>
            <a:r>
              <a:rPr sz="3300" b="1">
                <a:solidFill>
                  <a:srgbClr val="D7D1C2"/>
                </a:solidFill>
              </a:rPr>
              <a:t>→</a:t>
            </a:r>
          </a:p>
        </p:txBody>
      </p:sp>
      <p:sp>
        <p:nvSpPr>
          <p:cNvPr id="17" name="flow-line">
            <a:extLst xmlns:a="http://schemas.openxmlformats.org/drawingml/2006/main">
              <a:ext uri="{FF2B5EF4-FFF2-40B4-BE49-F238E27FC236}">
                <a16:creationId xmlns:a16="http://schemas.microsoft.com/office/drawing/2014/main" id="{197BD33F-2C2F-47F2-A825-CCA2E11F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626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4D"/>
          </a:solidFill>
          <a:ln xmlns:a="http://schemas.openxmlformats.org/drawingml/2006/main" w="0">
            <a:solidFill>
              <a:srgbClr val="B85C4D"/>
            </a:solidFill>
            <a:prstDash val="solid"/>
          </a:ln>
        </p:spPr>
      </p:sp>
      <p:sp>
        <p:nvSpPr>
          <p:cNvPr id="18" name="flow-label">
            <a:extLst xmlns:a="http://schemas.openxmlformats.org/drawingml/2006/main">
              <a:ext uri="{FF2B5EF4-FFF2-40B4-BE49-F238E27FC236}">
                <a16:creationId xmlns:a16="http://schemas.microsoft.com/office/drawing/2014/main" id="{3F1A723C-174A-435D-A6C7-882E53B1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79120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A16"/>
                </a:solidFill>
              </a:defRPr>
            </a:pPr>
            <a:r>
              <a:rPr sz="3000" b="1">
                <a:solidFill>
                  <a:srgbClr val="171A16"/>
                </a:solidFill>
              </a:rPr>
              <a:t>Dashboard</a:t>
            </a:r>
          </a:p>
        </p:txBody>
      </p:sp>
      <p:sp>
        <p:nvSpPr>
          <p:cNvPr id="19" name="flow-copy">
            <a:extLst xmlns:a="http://schemas.openxmlformats.org/drawingml/2006/main">
              <a:ext uri="{FF2B5EF4-FFF2-40B4-BE49-F238E27FC236}">
                <a16:creationId xmlns:a16="http://schemas.microsoft.com/office/drawing/2014/main" id="{62DA5A78-0D16-4EF6-A2C2-E7A203C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63436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46F65"/>
                </a:solidFill>
              </a:defRPr>
            </a:pPr>
            <a:r>
              <a:rPr sz="1650">
                <a:solidFill>
                  <a:srgbClr val="746F65"/>
                </a:solidFill>
              </a:rPr>
              <a:t>Profile, transcript, visits, ROI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3970F926-8B5D-43C3-B666-F4040EA6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67850"/>
            <a:ext cx="1653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6F65"/>
                </a:solidFill>
              </a:defRPr>
            </a:pPr>
            <a:r>
              <a:rPr sz="1125">
                <a:solidFill>
                  <a:srgbClr val="746F65"/>
                </a:solidFill>
              </a:rPr>
              <a:t>Demo route: /inbox → /listings → /visits → /economics</a:t>
            </a:r>
          </a:p>
        </p:txBody>
      </p:sp>
    </p:spTree>
    <p:extLst>
      <p:ext uri="{BB962C8B-B14F-4D97-AF65-F5344CB8AC3E}">
        <p14:creationId xmlns:p14="http://schemas.microsoft.com/office/powerpoint/2010/main" val="5987260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9AC388B-C237-4D7E-B490-4FBE347A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C8E08DC-FC5D-47D3-B3B3-924A3733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4E"/>
                </a:solidFill>
              </a:defRPr>
            </a:pPr>
            <a:r>
              <a:rPr sz="1350" b="1">
                <a:solidFill>
                  <a:srgbClr val="2F6F4E"/>
                </a:solidFill>
              </a:rPr>
              <a:t>3 · Agent design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3467BE-C793-467C-9463-4F724C34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1A16"/>
                </a:solidFill>
              </a:defRPr>
            </a:pPr>
            <a:r>
              <a:rPr sz="4200" b="1">
                <a:solidFill>
                  <a:srgbClr val="171A16"/>
                </a:solidFill>
              </a:rPr>
              <a:t>The trust rule is explicit: never recommend without a caveat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2A754F-AADF-455C-9888-79952277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629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46F65"/>
                </a:solidFill>
              </a:defRPr>
            </a:pPr>
            <a:r>
              <a:rPr sz="1875">
                <a:solidFill>
                  <a:srgbClr val="746F65"/>
                </a:solidFill>
              </a:rPr>
              <a:t>The prompt and listing schema both force honest comparison.</a:t>
            </a:r>
          </a:p>
        </p:txBody>
      </p:sp>
      <p:sp>
        <p:nvSpPr>
          <p:cNvPr id="5" name="bullet-dot">
            <a:extLst xmlns:a="http://schemas.openxmlformats.org/drawingml/2006/main">
              <a:ext uri="{FF2B5EF4-FFF2-40B4-BE49-F238E27FC236}">
                <a16:creationId xmlns:a16="http://schemas.microsoft.com/office/drawing/2014/main" id="{836ECA9A-55C5-48E2-B568-5D51ADC9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777752DE-DE09-4BE3-9E4F-5A729A93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689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Ask one question at a time.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5C66F719-CFC7-432F-8E2C-E29CDCA0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27886591-71EC-4AD6-9131-9208624D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689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Never invent listings, prices, availability, or owner rules.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6E80BA62-A619-4338-992D-B847DF5A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57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F144A9EC-CBF6-4142-BC82-44E52A76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57900"/>
            <a:ext cx="689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Say at least one downside before recommending.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C4A6DD7F-283A-4334-AB88-685C1C68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12" name="bullet-copy">
            <a:extLst xmlns:a="http://schemas.openxmlformats.org/drawingml/2006/main">
              <a:ext uri="{FF2B5EF4-FFF2-40B4-BE49-F238E27FC236}">
                <a16:creationId xmlns:a16="http://schemas.microsoft.com/office/drawing/2014/main" id="{FB609511-01C2-45DD-8CD4-A6745AB6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534150"/>
            <a:ext cx="689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Book visits only after explicit confirmation.</a:t>
            </a:r>
          </a:p>
        </p:txBody>
      </p:sp>
      <p:sp>
        <p:nvSpPr>
          <p:cNvPr id="13" name="agent-quote-text">
            <a:extLst xmlns:a="http://schemas.openxmlformats.org/drawingml/2006/main">
              <a:ext uri="{FF2B5EF4-FFF2-40B4-BE49-F238E27FC236}">
                <a16:creationId xmlns:a16="http://schemas.microsoft.com/office/drawing/2014/main" id="{773671D8-2A11-4C88-A972-BCB10F8C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95850"/>
            <a:ext cx="64198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F2A1D"/>
                </a:solidFill>
              </a:defRPr>
            </a:pPr>
            <a:r>
              <a:rPr sz="3750" b="1">
                <a:solidFill>
                  <a:srgbClr val="0F2A1D"/>
                </a:solidFill>
              </a:rPr>
              <a:t>“I will compare the homes calmly and call out tradeoffs too.”</a:t>
            </a:r>
          </a:p>
        </p:txBody>
      </p:sp>
      <p:sp>
        <p:nvSpPr>
          <p:cNvPr id="14" name="agent-quote-sub">
            <a:extLst xmlns:a="http://schemas.openxmlformats.org/drawingml/2006/main">
              <a:ext uri="{FF2B5EF4-FFF2-40B4-BE49-F238E27FC236}">
                <a16:creationId xmlns:a16="http://schemas.microsoft.com/office/drawing/2014/main" id="{6D2E2533-8A16-4366-946B-886F4EE7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515100"/>
            <a:ext cx="5753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46F65"/>
                </a:solidFill>
              </a:defRPr>
            </a:pPr>
            <a:r>
              <a:rPr sz="1800">
                <a:solidFill>
                  <a:srgbClr val="746F65"/>
                </a:solidFill>
              </a:rPr>
              <a:t>That sentence is the product: NoBroker's brand promise expressed as a voice behavior.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A84A539A-8BD4-4A02-8BC0-655DDCD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67850"/>
            <a:ext cx="1653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6F65"/>
                </a:solidFill>
              </a:defRPr>
            </a:pPr>
            <a:r>
              <a:rPr sz="1125">
                <a:solidFill>
                  <a:srgbClr val="746F65"/>
                </a:solidFill>
              </a:rPr>
              <a:t>Assets: agent/system-prompt.md · agent/tools.json · agent/eval-cases.md</a:t>
            </a:r>
          </a:p>
        </p:txBody>
      </p:sp>
    </p:spTree>
    <p:extLst>
      <p:ext uri="{BB962C8B-B14F-4D97-AF65-F5344CB8AC3E}">
        <p14:creationId xmlns:p14="http://schemas.microsoft.com/office/powerpoint/2010/main" val="5034329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E07DCBA-6C62-4DB1-96B4-1AA5FCD6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F85736F-05AA-48EC-983F-5EBF4997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4E"/>
                </a:solidFill>
              </a:defRPr>
            </a:pPr>
            <a:r>
              <a:rPr sz="1350" b="1">
                <a:solidFill>
                  <a:srgbClr val="2F6F4E"/>
                </a:solidFill>
              </a:rPr>
              <a:t>4 · Web app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583754-1389-4DA9-92EB-BDCA8B6B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04965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1A16"/>
                </a:solidFill>
              </a:defRPr>
            </a:pPr>
            <a:r>
              <a:rPr sz="4200" b="1">
                <a:solidFill>
                  <a:srgbClr val="171A16"/>
                </a:solidFill>
              </a:rPr>
              <a:t>The dashboard solves the human handoff problem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D58B2C-B6E8-4F20-8334-64FC8933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8248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46F65"/>
                </a:solidFill>
              </a:defRPr>
            </a:pPr>
            <a:r>
              <a:rPr sz="1875">
                <a:solidFill>
                  <a:srgbClr val="746F65"/>
                </a:solidFill>
              </a:rPr>
              <a:t>Operators see not just the lead, but why the agent recommended each home.</a:t>
            </a:r>
          </a:p>
        </p:txBody>
      </p:sp>
      <p:sp>
        <p:nvSpPr>
          <p:cNvPr id="5" name="dashboard-mock">
            <a:extLst xmlns:a="http://schemas.openxmlformats.org/drawingml/2006/main">
              <a:ext uri="{FF2B5EF4-FFF2-40B4-BE49-F238E27FC236}">
                <a16:creationId xmlns:a16="http://schemas.microsoft.com/office/drawing/2014/main" id="{02B4E124-3A6E-45A6-9E13-99971910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6535400" cy="6105525"/>
          </a:xfrm>
          <a:prstGeom xmlns:a="http://schemas.openxmlformats.org/drawingml/2006/main" prst="roundRect">
            <a:avLst>
              <a:gd name="adj" fmla="val 12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2"/>
            </a:solidFill>
            <a:prstDash val="solid"/>
          </a:ln>
        </p:spPr>
      </p:sp>
      <p:sp>
        <p:nvSpPr>
          <p:cNvPr id="6" name="mock-title">
            <a:extLst xmlns:a="http://schemas.openxmlformats.org/drawingml/2006/main">
              <a:ext uri="{FF2B5EF4-FFF2-40B4-BE49-F238E27FC236}">
                <a16:creationId xmlns:a16="http://schemas.microsoft.com/office/drawing/2014/main" id="{A9D17800-8F92-4C2F-A50F-5943BFEA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622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A16"/>
                </a:solidFill>
              </a:defRPr>
            </a:pPr>
            <a:r>
              <a:rPr sz="1800" b="1">
                <a:solidFill>
                  <a:srgbClr val="171A16"/>
                </a:solidFill>
              </a:rPr>
              <a:t>Concierge inbox</a:t>
            </a:r>
          </a:p>
        </p:txBody>
      </p:sp>
      <p:sp>
        <p:nvSpPr>
          <p:cNvPr id="7" name="lead-mark">
            <a:extLst xmlns:a="http://schemas.openxmlformats.org/drawingml/2006/main">
              <a:ext uri="{FF2B5EF4-FFF2-40B4-BE49-F238E27FC236}">
                <a16:creationId xmlns:a16="http://schemas.microsoft.com/office/drawing/2014/main" id="{0A645A0F-E4EC-4F89-A775-CA114C35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8" name="lead-name">
            <a:extLst xmlns:a="http://schemas.openxmlformats.org/drawingml/2006/main">
              <a:ext uri="{FF2B5EF4-FFF2-40B4-BE49-F238E27FC236}">
                <a16:creationId xmlns:a16="http://schemas.microsoft.com/office/drawing/2014/main" id="{C502BF34-F921-4DB7-B994-BFBCAB73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A16"/>
                </a:solidFill>
              </a:defRPr>
            </a:pPr>
            <a:r>
              <a:rPr sz="1800" b="1">
                <a:solidFill>
                  <a:srgbClr val="171A16"/>
                </a:solidFill>
              </a:rPr>
              <a:t>Aarav Mehta</a:t>
            </a:r>
          </a:p>
        </p:txBody>
      </p:sp>
      <p:sp>
        <p:nvSpPr>
          <p:cNvPr id="9" name="lead-detail">
            <a:extLst xmlns:a="http://schemas.openxmlformats.org/drawingml/2006/main">
              <a:ext uri="{FF2B5EF4-FFF2-40B4-BE49-F238E27FC236}">
                <a16:creationId xmlns:a16="http://schemas.microsoft.com/office/drawing/2014/main" id="{7C62E8D6-8AA1-4C76-ACD1-6F5CD25F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5981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46F65"/>
                </a:solidFill>
              </a:defRPr>
            </a:pPr>
            <a:r>
              <a:rPr sz="1350">
                <a:solidFill>
                  <a:srgbClr val="746F65"/>
                </a:solidFill>
              </a:rPr>
              <a:t>Urgent · 86/100 · HSR + Whitefield</a:t>
            </a:r>
          </a:p>
        </p:txBody>
      </p:sp>
      <p:sp>
        <p:nvSpPr>
          <p:cNvPr id="10" name="lead-mark">
            <a:extLst xmlns:a="http://schemas.openxmlformats.org/drawingml/2006/main">
              <a:ext uri="{FF2B5EF4-FFF2-40B4-BE49-F238E27FC236}">
                <a16:creationId xmlns:a16="http://schemas.microsoft.com/office/drawing/2014/main" id="{EE2AB49B-CEF5-4284-A728-70F266B4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9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4"/>
          </a:solidFill>
          <a:ln xmlns:a="http://schemas.openxmlformats.org/drawingml/2006/main" w="0">
            <a:solidFill>
              <a:srgbClr val="E3A634"/>
            </a:solidFill>
            <a:prstDash val="solid"/>
          </a:ln>
        </p:spPr>
      </p:sp>
      <p:sp>
        <p:nvSpPr>
          <p:cNvPr id="11" name="lead-name">
            <a:extLst xmlns:a="http://schemas.openxmlformats.org/drawingml/2006/main">
              <a:ext uri="{FF2B5EF4-FFF2-40B4-BE49-F238E27FC236}">
                <a16:creationId xmlns:a16="http://schemas.microsoft.com/office/drawing/2014/main" id="{836F19B4-C09E-470D-B9E4-8048C286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A16"/>
                </a:solidFill>
              </a:defRPr>
            </a:pPr>
            <a:r>
              <a:rPr sz="1800" b="1">
                <a:solidFill>
                  <a:srgbClr val="171A16"/>
                </a:solidFill>
              </a:rPr>
              <a:t>Neha Rao</a:t>
            </a:r>
          </a:p>
        </p:txBody>
      </p:sp>
      <p:sp>
        <p:nvSpPr>
          <p:cNvPr id="12" name="lead-detail">
            <a:extLst xmlns:a="http://schemas.openxmlformats.org/drawingml/2006/main">
              <a:ext uri="{FF2B5EF4-FFF2-40B4-BE49-F238E27FC236}">
                <a16:creationId xmlns:a16="http://schemas.microsoft.com/office/drawing/2014/main" id="{38795CED-5FE3-4551-8671-34E2D63A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5900"/>
            <a:ext cx="5981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46F65"/>
                </a:solidFill>
              </a:defRPr>
            </a:pPr>
            <a:r>
              <a:rPr sz="1350">
                <a:solidFill>
                  <a:srgbClr val="746F65"/>
                </a:solidFill>
              </a:rPr>
              <a:t>Bachelor · Indiranagar + Koramangala</a:t>
            </a:r>
          </a:p>
        </p:txBody>
      </p:sp>
      <p:sp>
        <p:nvSpPr>
          <p:cNvPr id="13" name="lead-mark">
            <a:extLst xmlns:a="http://schemas.openxmlformats.org/drawingml/2006/main">
              <a:ext uri="{FF2B5EF4-FFF2-40B4-BE49-F238E27FC236}">
                <a16:creationId xmlns:a16="http://schemas.microsoft.com/office/drawing/2014/main" id="{62F62552-381A-49F1-B88A-5769A439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817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AB"/>
          </a:solidFill>
          <a:ln xmlns:a="http://schemas.openxmlformats.org/drawingml/2006/main" w="0">
            <a:solidFill>
              <a:srgbClr val="4C8CAB"/>
            </a:solidFill>
            <a:prstDash val="solid"/>
          </a:ln>
        </p:spPr>
      </p:sp>
      <p:sp>
        <p:nvSpPr>
          <p:cNvPr id="14" name="lead-name">
            <a:extLst xmlns:a="http://schemas.openxmlformats.org/drawingml/2006/main">
              <a:ext uri="{FF2B5EF4-FFF2-40B4-BE49-F238E27FC236}">
                <a16:creationId xmlns:a16="http://schemas.microsoft.com/office/drawing/2014/main" id="{0E2466C1-E9AD-403B-AA3E-E96F27B1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769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A16"/>
                </a:solidFill>
              </a:defRPr>
            </a:pPr>
            <a:r>
              <a:rPr sz="1800" b="1">
                <a:solidFill>
                  <a:srgbClr val="171A16"/>
                </a:solidFill>
              </a:rPr>
              <a:t>Kiran N</a:t>
            </a:r>
          </a:p>
        </p:txBody>
      </p:sp>
      <p:sp>
        <p:nvSpPr>
          <p:cNvPr id="15" name="lead-detail">
            <a:extLst xmlns:a="http://schemas.openxmlformats.org/drawingml/2006/main">
              <a:ext uri="{FF2B5EF4-FFF2-40B4-BE49-F238E27FC236}">
                <a16:creationId xmlns:a16="http://schemas.microsoft.com/office/drawing/2014/main" id="{9AA9C556-E1E4-43D5-8BFC-19BDDF27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62700"/>
            <a:ext cx="5981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46F65"/>
                </a:solidFill>
              </a:defRPr>
            </a:pPr>
            <a:r>
              <a:rPr sz="1350">
                <a:solidFill>
                  <a:srgbClr val="746F65"/>
                </a:solidFill>
              </a:rPr>
              <a:t>Family · JP Nagar + BTM</a:t>
            </a:r>
          </a:p>
        </p:txBody>
      </p:sp>
      <p:sp>
        <p:nvSpPr>
          <p:cNvPr id="16" name="detail-title">
            <a:extLst xmlns:a="http://schemas.openxmlformats.org/drawingml/2006/main">
              <a:ext uri="{FF2B5EF4-FFF2-40B4-BE49-F238E27FC236}">
                <a16:creationId xmlns:a16="http://schemas.microsoft.com/office/drawing/2014/main" id="{673B434A-13C2-45ED-B5B3-CD7F30D7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14700"/>
            <a:ext cx="9353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A16"/>
                </a:solidFill>
              </a:defRPr>
            </a:pPr>
            <a:r>
              <a:rPr sz="1800" b="1">
                <a:solidFill>
                  <a:srgbClr val="171A16"/>
                </a:solidFill>
              </a:rPr>
              <a:t>Extracted profile + comparison rationale</a:t>
            </a:r>
          </a:p>
        </p:txBody>
      </p:sp>
      <p:sp>
        <p:nvSpPr>
          <p:cNvPr id="17" name="mini-label">
            <a:extLst xmlns:a="http://schemas.openxmlformats.org/drawingml/2006/main">
              <a:ext uri="{FF2B5EF4-FFF2-40B4-BE49-F238E27FC236}">
                <a16:creationId xmlns:a16="http://schemas.microsoft.com/office/drawing/2014/main" id="{101716B5-F64B-4121-AAA1-2C7930AB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2430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46F65"/>
                </a:solidFill>
              </a:defRPr>
            </a:pPr>
            <a:r>
              <a:rPr sz="1200">
                <a:solidFill>
                  <a:srgbClr val="746F65"/>
                </a:solidFill>
              </a:rPr>
              <a:t>Budget</a:t>
            </a:r>
          </a:p>
        </p:txBody>
      </p:sp>
      <p:sp>
        <p:nvSpPr>
          <p:cNvPr id="18" name="mini-value">
            <a:extLst xmlns:a="http://schemas.openxmlformats.org/drawingml/2006/main">
              <a:ext uri="{FF2B5EF4-FFF2-40B4-BE49-F238E27FC236}">
                <a16:creationId xmlns:a16="http://schemas.microsoft.com/office/drawing/2014/main" id="{E0764287-81A6-4E5B-AC74-96295FBE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14800"/>
            <a:ext cx="300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A16"/>
                </a:solidFill>
              </a:defRPr>
            </a:pPr>
            <a:r>
              <a:rPr sz="1800" b="1">
                <a:solidFill>
                  <a:srgbClr val="171A16"/>
                </a:solidFill>
              </a:rPr>
              <a:t>₹35k-₹48k</a:t>
            </a:r>
          </a:p>
        </p:txBody>
      </p:sp>
      <p:sp>
        <p:nvSpPr>
          <p:cNvPr id="19" name="mini-label">
            <a:extLst xmlns:a="http://schemas.openxmlformats.org/drawingml/2006/main">
              <a:ext uri="{FF2B5EF4-FFF2-40B4-BE49-F238E27FC236}">
                <a16:creationId xmlns:a16="http://schemas.microsoft.com/office/drawing/2014/main" id="{B4F8DC79-9B36-4584-BE24-223A1E7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92430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46F65"/>
                </a:solidFill>
              </a:defRPr>
            </a:pPr>
            <a:r>
              <a:rPr sz="1200">
                <a:solidFill>
                  <a:srgbClr val="746F65"/>
                </a:solidFill>
              </a:rPr>
              <a:t>Move-in</a:t>
            </a:r>
          </a:p>
        </p:txBody>
      </p:sp>
      <p:sp>
        <p:nvSpPr>
          <p:cNvPr id="20" name="mini-value">
            <a:extLst xmlns:a="http://schemas.openxmlformats.org/drawingml/2006/main">
              <a:ext uri="{FF2B5EF4-FFF2-40B4-BE49-F238E27FC236}">
                <a16:creationId xmlns:a16="http://schemas.microsoft.com/office/drawing/2014/main" id="{7F4CEC4C-AE40-4BAD-AA1A-8F93E9C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114800"/>
            <a:ext cx="300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A16"/>
                </a:solidFill>
              </a:defRPr>
            </a:pPr>
            <a:r>
              <a:rPr sz="1800" b="1">
                <a:solidFill>
                  <a:srgbClr val="171A16"/>
                </a:solidFill>
              </a:rPr>
              <a:t>June 1</a:t>
            </a:r>
          </a:p>
        </p:txBody>
      </p:sp>
      <p:sp>
        <p:nvSpPr>
          <p:cNvPr id="21" name="mini-label">
            <a:extLst xmlns:a="http://schemas.openxmlformats.org/drawingml/2006/main">
              <a:ext uri="{FF2B5EF4-FFF2-40B4-BE49-F238E27FC236}">
                <a16:creationId xmlns:a16="http://schemas.microsoft.com/office/drawing/2014/main" id="{33E84AE9-AFED-484A-9EB3-4822DDD8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392430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46F65"/>
                </a:solidFill>
              </a:defRPr>
            </a:pPr>
            <a:r>
              <a:rPr sz="1200">
                <a:solidFill>
                  <a:srgbClr val="746F65"/>
                </a:solidFill>
              </a:rPr>
              <a:t>Parking</a:t>
            </a:r>
          </a:p>
        </p:txBody>
      </p:sp>
      <p:sp>
        <p:nvSpPr>
          <p:cNvPr id="22" name="mini-value">
            <a:extLst xmlns:a="http://schemas.openxmlformats.org/drawingml/2006/main">
              <a:ext uri="{FF2B5EF4-FFF2-40B4-BE49-F238E27FC236}">
                <a16:creationId xmlns:a16="http://schemas.microsoft.com/office/drawing/2014/main" id="{FDA50BC4-D373-41DD-BF29-51D5E2F4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114800"/>
            <a:ext cx="300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A16"/>
                </a:solidFill>
              </a:defRPr>
            </a:pPr>
            <a:r>
              <a:rPr sz="1800" b="1">
                <a:solidFill>
                  <a:srgbClr val="171A16"/>
                </a:solidFill>
              </a:rPr>
              <a:t>car</a:t>
            </a:r>
          </a:p>
        </p:txBody>
      </p:sp>
      <p:sp>
        <p:nvSpPr>
          <p:cNvPr id="23" name="detail-copy">
            <a:extLst xmlns:a="http://schemas.openxmlformats.org/drawingml/2006/main">
              <a:ext uri="{FF2B5EF4-FFF2-40B4-BE49-F238E27FC236}">
                <a16:creationId xmlns:a16="http://schemas.microsoft.com/office/drawing/2014/main" id="{13BBBBE0-DE71-4974-8232-5723D4EA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05350"/>
            <a:ext cx="65341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HSR is brighter and pet-friendly, but more expensive after maintenance. Whitefield is cheaper and close to ITPL, but not pet-friendly.</a:t>
            </a:r>
          </a:p>
        </p:txBody>
      </p:sp>
      <p:sp>
        <p:nvSpPr>
          <p:cNvPr id="24" name="mini-label">
            <a:extLst xmlns:a="http://schemas.openxmlformats.org/drawingml/2006/main">
              <a:ext uri="{FF2B5EF4-FFF2-40B4-BE49-F238E27FC236}">
                <a16:creationId xmlns:a16="http://schemas.microsoft.com/office/drawing/2014/main" id="{7C3A4A98-1F65-4A41-92DD-C51F60CB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91200"/>
            <a:ext cx="4591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46F65"/>
                </a:solidFill>
              </a:defRPr>
            </a:pPr>
            <a:r>
              <a:rPr sz="1200">
                <a:solidFill>
                  <a:srgbClr val="746F65"/>
                </a:solidFill>
              </a:rPr>
              <a:t>Visit</a:t>
            </a:r>
          </a:p>
        </p:txBody>
      </p:sp>
      <p:sp>
        <p:nvSpPr>
          <p:cNvPr id="25" name="mini-value">
            <a:extLst xmlns:a="http://schemas.openxmlformats.org/drawingml/2006/main">
              <a:ext uri="{FF2B5EF4-FFF2-40B4-BE49-F238E27FC236}">
                <a16:creationId xmlns:a16="http://schemas.microsoft.com/office/drawing/2014/main" id="{A9437B6E-B75B-4ADA-9FEB-6AA86F74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81700"/>
            <a:ext cx="459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A16"/>
                </a:solidFill>
              </a:defRPr>
            </a:pPr>
            <a:r>
              <a:rPr sz="1800" b="1">
                <a:solidFill>
                  <a:srgbClr val="171A16"/>
                </a:solidFill>
              </a:rPr>
              <a:t>HSR · 5:30 PM</a:t>
            </a:r>
          </a:p>
        </p:txBody>
      </p:sp>
      <p:sp>
        <p:nvSpPr>
          <p:cNvPr id="26" name="mini-label">
            <a:extLst xmlns:a="http://schemas.openxmlformats.org/drawingml/2006/main">
              <a:ext uri="{FF2B5EF4-FFF2-40B4-BE49-F238E27FC236}">
                <a16:creationId xmlns:a16="http://schemas.microsoft.com/office/drawing/2014/main" id="{6A1BCD65-2959-4B70-BBC1-2A32A292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791200"/>
            <a:ext cx="4591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46F65"/>
                </a:solidFill>
              </a:defRPr>
            </a:pPr>
            <a:r>
              <a:rPr sz="1200">
                <a:solidFill>
                  <a:srgbClr val="746F65"/>
                </a:solidFill>
              </a:rPr>
              <a:t>Summary</a:t>
            </a:r>
          </a:p>
        </p:txBody>
      </p:sp>
      <p:sp>
        <p:nvSpPr>
          <p:cNvPr id="27" name="mini-value">
            <a:extLst xmlns:a="http://schemas.openxmlformats.org/drawingml/2006/main">
              <a:ext uri="{FF2B5EF4-FFF2-40B4-BE49-F238E27FC236}">
                <a16:creationId xmlns:a16="http://schemas.microsoft.com/office/drawing/2014/main" id="{1F8340DD-5043-4FFD-BBF5-027699AF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981700"/>
            <a:ext cx="459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A16"/>
                </a:solidFill>
              </a:defRPr>
            </a:pPr>
            <a:r>
              <a:rPr sz="1800" b="1">
                <a:solidFill>
                  <a:srgbClr val="171A16"/>
                </a:solidFill>
              </a:rPr>
              <a:t>sent/logged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C49CC59E-700D-40CB-BE99-A35A92DC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67850"/>
            <a:ext cx="1653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6F65"/>
                </a:solidFill>
              </a:defRPr>
            </a:pPr>
            <a:r>
              <a:rPr sz="1125">
                <a:solidFill>
                  <a:srgbClr val="746F65"/>
                </a:solidFill>
              </a:rPr>
              <a:t>Dashboard pages: inbox, listing comparison, visits, unit economics</a:t>
            </a:r>
          </a:p>
        </p:txBody>
      </p:sp>
    </p:spTree>
    <p:extLst>
      <p:ext uri="{BB962C8B-B14F-4D97-AF65-F5344CB8AC3E}">
        <p14:creationId xmlns:p14="http://schemas.microsoft.com/office/powerpoint/2010/main" val="14875744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3367212-2134-4443-A7D1-D056C5F5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D82828B-F84A-4F02-96B0-64D99CB6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4E"/>
                </a:solidFill>
              </a:defRPr>
            </a:pPr>
            <a:r>
              <a:rPr sz="1350" b="1">
                <a:solidFill>
                  <a:srgbClr val="2F6F4E"/>
                </a:solidFill>
              </a:rPr>
              <a:t>5 · Comparison engine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36C0BE-4B28-4B77-86CB-2BAD5966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9829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1A16"/>
                </a:solidFill>
              </a:defRPr>
            </a:pPr>
            <a:r>
              <a:rPr sz="4200" b="1">
                <a:solidFill>
                  <a:srgbClr val="171A16"/>
                </a:solidFill>
              </a:rPr>
              <a:t>A ranking is weaker than a transparent matrix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423C70-D270-4A7B-B930-3C167178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8343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46F65"/>
                </a:solidFill>
              </a:defRPr>
            </a:pPr>
            <a:r>
              <a:rPr sz="1875">
                <a:solidFill>
                  <a:srgbClr val="746F65"/>
                </a:solidFill>
              </a:rPr>
              <a:t>The caller hears a recommendation and the reason it might be wrong for them.</a:t>
            </a:r>
          </a:p>
        </p:txBody>
      </p:sp>
      <p:graphicFrame>
        <p:nvGraphicFramePr>
          <p:cNvPr id="5" name="comparison-table"/>
          <p:cNvGraphicFramePr/>
          <p:nvPr/>
        </p:nvGraphicFramePr>
        <p:xfrm>
          <a:off xmlns:a="http://schemas.openxmlformats.org/drawingml/2006/main" x="876300" y="2733675"/>
          <a:ext xmlns:a="http://schemas.openxmlformats.org/drawingml/2006/main" cx="16535400" cy="638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33850"/>
                <a:gridCol w="4133850"/>
                <a:gridCol w="4133850"/>
                <a:gridCol w="4133850"/>
              </a:tblGrid>
              <a:tr h="1063625">
                <a:tc>
                  <a:txBody>
                    <a:bodyPr/>
                    <a:lstStyle/>
                    <a:p>
                      <a:r>
                        <a:rPr/>
                        <a:t>Axis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HSR Sector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Whitefield ITPL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Electronic City</a:t>
                      </a:r>
                    </a:p>
                  </a:txBody>
                  <a:tcPr marL="91440" marR="91440" marT="45720" marB="45720"/>
                </a:tc>
              </a:tr>
              <a:tr h="1063625">
                <a:tc>
                  <a:txBody>
                    <a:bodyPr/>
                    <a:lstStyle/>
                    <a:p>
                      <a:r>
                        <a:rPr/>
                        <a:t>Monthly 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₹46.5k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₹31k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₹35k</a:t>
                      </a:r>
                    </a:p>
                  </a:txBody>
                  <a:tcPr marL="91440" marR="91440" marT="45720" marB="45720"/>
                </a:tc>
              </a:tr>
              <a:tr h="1063625">
                <a:tc>
                  <a:txBody>
                    <a:bodyPr/>
                    <a:lstStyle/>
                    <a:p>
                      <a:r>
                        <a:rPr/>
                        <a:t>Parking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car + bike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car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both</a:t>
                      </a:r>
                    </a:p>
                  </a:txBody>
                  <a:tcPr marL="91440" marR="91440" marT="45720" marB="45720"/>
                </a:tc>
              </a:tr>
              <a:tr h="1063625">
                <a:tc>
                  <a:txBody>
                    <a:bodyPr/>
                    <a:lstStyle/>
                    <a:p>
                      <a:r>
                        <a:rPr/>
                        <a:t>Pet rule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friendly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not friendly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friendly</a:t>
                      </a:r>
                    </a:p>
                  </a:txBody>
                  <a:tcPr marL="91440" marR="91440" marT="45720" marB="45720"/>
                </a:tc>
              </a:tr>
              <a:tr h="1063625">
                <a:tc>
                  <a:txBody>
                    <a:bodyPr/>
                    <a:lstStyle/>
                    <a:p>
                      <a:r>
                        <a:rPr/>
                        <a:t>Commute note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ORR convenient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ITPL walkable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commute risk</a:t>
                      </a:r>
                    </a:p>
                  </a:txBody>
                  <a:tcPr marL="91440" marR="91440" marT="45720" marB="45720"/>
                </a:tc>
              </a:tr>
              <a:tr h="1063625">
                <a:tc>
                  <a:txBody>
                    <a:bodyPr/>
                    <a:lstStyle/>
                    <a:p>
                      <a:r>
                        <a:rPr/>
                        <a:t>Honest caveat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maintenance extra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traffic outside Whitefield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farther from HSR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59A1A21-E663-4739-83FD-C8B424CC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67850"/>
            <a:ext cx="1653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6F65"/>
                </a:solidFill>
              </a:defRPr>
            </a:pPr>
            <a:r>
              <a:rPr sz="1125">
                <a:solidFill>
                  <a:srgbClr val="746F65"/>
                </a:solidFill>
              </a:rPr>
              <a:t>Mock data today · real provider tomorrow through the InventoryProvider interface</a:t>
            </a:r>
          </a:p>
        </p:txBody>
      </p:sp>
    </p:spTree>
    <p:extLst>
      <p:ext uri="{BB962C8B-B14F-4D97-AF65-F5344CB8AC3E}">
        <p14:creationId xmlns:p14="http://schemas.microsoft.com/office/powerpoint/2010/main" val="10422131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420B8B5-F026-401E-AF01-C15DB392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87B6415-3A12-458A-BC24-5D979981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4E"/>
                </a:solidFill>
              </a:defRPr>
            </a:pPr>
            <a:r>
              <a:rPr sz="1350" b="1">
                <a:solidFill>
                  <a:srgbClr val="2F6F4E"/>
                </a:solidFill>
              </a:rPr>
              <a:t>6 · Architecture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476EB5-FCFE-4734-88D3-3757CB32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00774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1A16"/>
                </a:solidFill>
              </a:defRPr>
            </a:pPr>
            <a:r>
              <a:rPr sz="4200" b="1">
                <a:solidFill>
                  <a:srgbClr val="171A16"/>
                </a:solidFill>
              </a:rPr>
              <a:t>Mock-data assignment, real-data-ready product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7C0555-7834-4CCF-885C-0038899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66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46F65"/>
                </a:solidFill>
              </a:defRPr>
            </a:pPr>
            <a:r>
              <a:rPr sz="1875">
                <a:solidFill>
                  <a:srgbClr val="746F65"/>
                </a:solidFill>
              </a:rPr>
              <a:t>No scraping. The data source is a provider swap, not a rewrite.</a:t>
            </a:r>
          </a:p>
        </p:txBody>
      </p:sp>
      <p:sp>
        <p:nvSpPr>
          <p:cNvPr id="5" name="arch-rule">
            <a:extLst xmlns:a="http://schemas.openxmlformats.org/drawingml/2006/main">
              <a:ext uri="{FF2B5EF4-FFF2-40B4-BE49-F238E27FC236}">
                <a16:creationId xmlns:a16="http://schemas.microsoft.com/office/drawing/2014/main" id="{6EDE738A-7285-44A0-9AF6-2AD2748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6" name="arch-label">
            <a:extLst xmlns:a="http://schemas.openxmlformats.org/drawingml/2006/main">
              <a:ext uri="{FF2B5EF4-FFF2-40B4-BE49-F238E27FC236}">
                <a16:creationId xmlns:a16="http://schemas.microsoft.com/office/drawing/2014/main" id="{6FFC79A6-712E-404B-8381-65E1A147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4819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6"/>
                </a:solidFill>
              </a:defRPr>
            </a:pPr>
            <a:r>
              <a:rPr sz="3600" b="1">
                <a:solidFill>
                  <a:srgbClr val="171A16"/>
                </a:solidFill>
              </a:rPr>
              <a:t>Bolna</a:t>
            </a:r>
          </a:p>
        </p:txBody>
      </p:sp>
      <p:sp>
        <p:nvSpPr>
          <p:cNvPr id="7" name="arch-copy">
            <a:extLst xmlns:a="http://schemas.openxmlformats.org/drawingml/2006/main">
              <a:ext uri="{FF2B5EF4-FFF2-40B4-BE49-F238E27FC236}">
                <a16:creationId xmlns:a16="http://schemas.microsoft.com/office/drawing/2014/main" id="{E2537445-7106-4CBA-AE69-789DDA40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2647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46F65"/>
                </a:solidFill>
              </a:defRPr>
            </a:pPr>
            <a:r>
              <a:rPr sz="1800">
                <a:solidFill>
                  <a:srgbClr val="746F65"/>
                </a:solidFill>
              </a:rPr>
              <a:t>Voice, prompt, tool calling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FB4C4176-910C-48B6-9BF0-C6757D3A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86100"/>
            <a:ext cx="457200" cy="592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7D1C2"/>
                </a:solidFill>
              </a:defRPr>
            </a:pPr>
            <a:r>
              <a:rPr sz="3300" b="1">
                <a:solidFill>
                  <a:srgbClr val="D7D1C2"/>
                </a:solidFill>
              </a:rPr>
              <a:t>→</a:t>
            </a:r>
          </a:p>
        </p:txBody>
      </p:sp>
      <p:sp>
        <p:nvSpPr>
          <p:cNvPr id="9" name="arch-rule">
            <a:extLst xmlns:a="http://schemas.openxmlformats.org/drawingml/2006/main">
              <a:ext uri="{FF2B5EF4-FFF2-40B4-BE49-F238E27FC236}">
                <a16:creationId xmlns:a16="http://schemas.microsoft.com/office/drawing/2014/main" id="{7C6C5742-3551-436C-A9A8-FE2850CB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864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AB"/>
          </a:solidFill>
          <a:ln xmlns:a="http://schemas.openxmlformats.org/drawingml/2006/main" w="0">
            <a:solidFill>
              <a:srgbClr val="4C8CAB"/>
            </a:solidFill>
            <a:prstDash val="solid"/>
          </a:ln>
        </p:spPr>
      </p:sp>
      <p:sp>
        <p:nvSpPr>
          <p:cNvPr id="10" name="arch-label">
            <a:extLst xmlns:a="http://schemas.openxmlformats.org/drawingml/2006/main">
              <a:ext uri="{FF2B5EF4-FFF2-40B4-BE49-F238E27FC236}">
                <a16:creationId xmlns:a16="http://schemas.microsoft.com/office/drawing/2014/main" id="{7945E443-49A4-4D4A-9B51-40427D1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34050"/>
            <a:ext cx="4819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6"/>
                </a:solidFill>
              </a:defRPr>
            </a:pPr>
            <a:r>
              <a:rPr sz="3600" b="1">
                <a:solidFill>
                  <a:srgbClr val="171A16"/>
                </a:solidFill>
              </a:rPr>
              <a:t>Next.js + API</a:t>
            </a:r>
          </a:p>
        </p:txBody>
      </p:sp>
      <p:sp>
        <p:nvSpPr>
          <p:cNvPr id="11" name="arch-copy">
            <a:extLst xmlns:a="http://schemas.openxmlformats.org/drawingml/2006/main">
              <a:ext uri="{FF2B5EF4-FFF2-40B4-BE49-F238E27FC236}">
                <a16:creationId xmlns:a16="http://schemas.microsoft.com/office/drawing/2014/main" id="{03F5BA14-C495-49EF-86B3-C8A02FED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00800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46F65"/>
                </a:solidFill>
              </a:defRPr>
            </a:pPr>
            <a:r>
              <a:rPr sz="1800">
                <a:solidFill>
                  <a:srgbClr val="746F65"/>
                </a:solidFill>
              </a:rPr>
              <a:t>Webhook receiver + function routes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D3B0891E-83DD-4634-9BEB-855170D0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086100"/>
            <a:ext cx="457200" cy="592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7D1C2"/>
                </a:solidFill>
              </a:defRPr>
            </a:pPr>
            <a:r>
              <a:rPr sz="3300" b="1">
                <a:solidFill>
                  <a:srgbClr val="D7D1C2"/>
                </a:solidFill>
              </a:rPr>
              <a:t>→</a:t>
            </a:r>
          </a:p>
        </p:txBody>
      </p:sp>
      <p:sp>
        <p:nvSpPr>
          <p:cNvPr id="13" name="arch-rule">
            <a:extLst xmlns:a="http://schemas.openxmlformats.org/drawingml/2006/main">
              <a:ext uri="{FF2B5EF4-FFF2-40B4-BE49-F238E27FC236}">
                <a16:creationId xmlns:a16="http://schemas.microsoft.com/office/drawing/2014/main" id="{5B2D5FDA-FF52-4490-828A-D0512439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3340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634"/>
          </a:solidFill>
          <a:ln xmlns:a="http://schemas.openxmlformats.org/drawingml/2006/main" w="0">
            <a:solidFill>
              <a:srgbClr val="E3A634"/>
            </a:solidFill>
            <a:prstDash val="solid"/>
          </a:ln>
        </p:spPr>
      </p:sp>
      <p:sp>
        <p:nvSpPr>
          <p:cNvPr id="14" name="arch-label">
            <a:extLst xmlns:a="http://schemas.openxmlformats.org/drawingml/2006/main">
              <a:ext uri="{FF2B5EF4-FFF2-40B4-BE49-F238E27FC236}">
                <a16:creationId xmlns:a16="http://schemas.microsoft.com/office/drawing/2014/main" id="{E85BC42E-FCF1-44A8-948E-AD5E21A0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619750"/>
            <a:ext cx="4819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6"/>
                </a:solidFill>
              </a:defRPr>
            </a:pPr>
            <a:r>
              <a:rPr sz="3600" b="1">
                <a:solidFill>
                  <a:srgbClr val="171A16"/>
                </a:solidFill>
              </a:rPr>
              <a:t>Provider + DB</a:t>
            </a:r>
          </a:p>
        </p:txBody>
      </p:sp>
      <p:sp>
        <p:nvSpPr>
          <p:cNvPr id="15" name="arch-copy">
            <a:extLst xmlns:a="http://schemas.openxmlformats.org/drawingml/2006/main">
              <a:ext uri="{FF2B5EF4-FFF2-40B4-BE49-F238E27FC236}">
                <a16:creationId xmlns:a16="http://schemas.microsoft.com/office/drawing/2014/main" id="{8B5A564D-86A5-44E3-BB5B-515DD805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6286500"/>
            <a:ext cx="3105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46F65"/>
                </a:solidFill>
              </a:defRPr>
            </a:pPr>
            <a:r>
              <a:rPr sz="1800">
                <a:solidFill>
                  <a:srgbClr val="746F65"/>
                </a:solidFill>
              </a:rPr>
              <a:t>InventoryProvider, comparison engine, Neon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79578D87-64A5-4E46-A76B-66380733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67850"/>
            <a:ext cx="1653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6F65"/>
                </a:solidFill>
              </a:defRPr>
            </a:pPr>
            <a:r>
              <a:rPr sz="1125">
                <a:solidFill>
                  <a:srgbClr val="746F65"/>
                </a:solidFill>
              </a:rPr>
              <a:t>Future feeds: NoBroker partnership · Housing.com · 99acres · consented community data</a:t>
            </a:r>
          </a:p>
        </p:txBody>
      </p:sp>
    </p:spTree>
    <p:extLst>
      <p:ext uri="{BB962C8B-B14F-4D97-AF65-F5344CB8AC3E}">
        <p14:creationId xmlns:p14="http://schemas.microsoft.com/office/powerpoint/2010/main" val="17761177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C2F6190-73E3-4E8C-A8FC-E00BD6D0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B85D230-17AF-44C2-ADD7-7473238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4E"/>
                </a:solidFill>
              </a:defRPr>
            </a:pPr>
            <a:r>
              <a:rPr sz="1350" b="1">
                <a:solidFill>
                  <a:srgbClr val="2F6F4E"/>
                </a:solidFill>
              </a:rPr>
              <a:t>7 · Success matrix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9718CE-B6A5-4553-A577-11C3E538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0515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1A16"/>
                </a:solidFill>
              </a:defRPr>
            </a:pPr>
            <a:r>
              <a:rPr sz="4200" b="1">
                <a:solidFill>
                  <a:srgbClr val="171A16"/>
                </a:solidFill>
              </a:rPr>
              <a:t>Cost per qualified visit is the clean metric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209F84-7B57-4839-B381-05365ED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8324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46F65"/>
                </a:solidFill>
              </a:defRPr>
            </a:pPr>
            <a:r>
              <a:rPr sz="1875">
                <a:solidFill>
                  <a:srgbClr val="746F65"/>
                </a:solidFill>
              </a:rPr>
              <a:t>The agent wins only if it lowers call cost while preserving trust and visit quality.</a:t>
            </a:r>
          </a:p>
        </p:txBody>
      </p:sp>
      <p:sp>
        <p:nvSpPr>
          <p:cNvPr id="5" name="savings-number">
            <a:extLst xmlns:a="http://schemas.openxmlformats.org/drawingml/2006/main">
              <a:ext uri="{FF2B5EF4-FFF2-40B4-BE49-F238E27FC236}">
                <a16:creationId xmlns:a16="http://schemas.microsoft.com/office/drawing/2014/main" id="{31B0A3D6-C463-4832-B36B-D7CE1D45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8362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2F6F4E"/>
                </a:solidFill>
              </a:defRPr>
            </a:pPr>
            <a:r>
              <a:rPr sz="6900" b="1">
                <a:solidFill>
                  <a:srgbClr val="2F6F4E"/>
                </a:solidFill>
              </a:rPr>
              <a:t>₹31.8L</a:t>
            </a:r>
          </a:p>
        </p:txBody>
      </p:sp>
      <p:sp>
        <p:nvSpPr>
          <p:cNvPr id="6" name="savings-label">
            <a:extLst xmlns:a="http://schemas.openxmlformats.org/drawingml/2006/main">
              <a:ext uri="{FF2B5EF4-FFF2-40B4-BE49-F238E27FC236}">
                <a16:creationId xmlns:a16="http://schemas.microsoft.com/office/drawing/2014/main" id="{C0A823EA-C2F4-4610-9C3C-A4F6B5C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5372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A16"/>
                </a:solidFill>
              </a:defRPr>
            </a:pPr>
            <a:r>
              <a:rPr sz="2100" b="1">
                <a:solidFill>
                  <a:srgbClr val="171A16"/>
                </a:solidFill>
              </a:rPr>
              <a:t>projected monthly savings at 12,000 rental calls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1C47D519-BF79-482D-B17F-29D52484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34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DD12A46D-2C3B-47E9-98C2-79967690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34100"/>
            <a:ext cx="811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Primary: % qualified calls with ≥1 booked visit.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5AFB87AD-CA09-4739-8F2D-6FC11B29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10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634"/>
          </a:solidFill>
          <a:ln xmlns:a="http://schemas.openxmlformats.org/drawingml/2006/main" w="0">
            <a:solidFill>
              <a:srgbClr val="E3A634"/>
            </a:solidFill>
            <a:prstDash val="solid"/>
          </a:ln>
        </p:spPr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DB726757-7CE5-47FE-A66A-809D4D2D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610350"/>
            <a:ext cx="811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Guardrails: show-up rate, complaint rate, summary accepted, caveat disclosed.</a:t>
            </a:r>
          </a:p>
        </p:txBody>
      </p:sp>
      <p:graphicFrame>
        <p:nvGraphicFramePr>
          <p:cNvPr id="11" name="cost-chart"/>
          <p:cNvGraphicFramePr/>
          <p:nvPr/>
        </p:nvGraphicFramePr>
        <p:xfrm>
          <a:off xmlns:a="http://schemas.openxmlformats.org/drawingml/2006/main" x="9846945" y="2257425"/>
          <a:ext xmlns:a="http://schemas.openxmlformats.org/drawingml/2006/main" cx="7564755" cy="680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d5c294cc034d3a"/>
          </a:graphicData>
        </a:graphic>
      </p:graphicFrame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663099AA-0632-4DF6-BF08-734A90DF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67850"/>
            <a:ext cx="1653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6F65"/>
                </a:solidFill>
              </a:defRPr>
            </a:pPr>
            <a:r>
              <a:rPr sz="1125">
                <a:solidFill>
                  <a:srgbClr val="746F65"/>
                </a:solidFill>
              </a:rPr>
              <a:t>Assumption for demo: RM call ₹280 midpoint; AI call ₹15 voice + infra estimate</a:t>
            </a:r>
          </a:p>
        </p:txBody>
      </p:sp>
    </p:spTree>
    <p:extLst>
      <p:ext uri="{BB962C8B-B14F-4D97-AF65-F5344CB8AC3E}">
        <p14:creationId xmlns:p14="http://schemas.microsoft.com/office/powerpoint/2010/main" val="12122102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DA185F4-F584-47CE-877B-B13A3C8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CC936E1-FE06-43B5-AE1C-9FE5C4D0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4E"/>
                </a:solidFill>
              </a:defRPr>
            </a:pPr>
            <a:r>
              <a:rPr sz="1350" b="1">
                <a:solidFill>
                  <a:srgbClr val="2F6F4E"/>
                </a:solidFill>
              </a:rPr>
              <a:t>8 · Submission plan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F4A3D4-2961-4D94-8289-4057951A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96393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1A16"/>
                </a:solidFill>
              </a:defRPr>
            </a:pPr>
            <a:r>
              <a:rPr sz="4200" b="1">
                <a:solidFill>
                  <a:srgbClr val="171A16"/>
                </a:solidFill>
              </a:rPr>
              <a:t>One artifact, three assignment frames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4D1F0C-C244-4F6C-B23E-AE8908D4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9982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46F65"/>
                </a:solidFill>
              </a:defRPr>
            </a:pPr>
            <a:r>
              <a:rPr sz="1875">
                <a:solidFill>
                  <a:srgbClr val="746F65"/>
                </a:solidFill>
              </a:rPr>
              <a:t>Full Stack is the superset; AISE and Founder's Office use the same agent and success matrix.</a:t>
            </a:r>
          </a:p>
        </p:txBody>
      </p:sp>
      <p:sp>
        <p:nvSpPr>
          <p:cNvPr id="5" name="submit-left-title">
            <a:extLst xmlns:a="http://schemas.openxmlformats.org/drawingml/2006/main">
              <a:ext uri="{FF2B5EF4-FFF2-40B4-BE49-F238E27FC236}">
                <a16:creationId xmlns:a16="http://schemas.microsoft.com/office/drawing/2014/main" id="{8DB48892-3EA9-4F49-8CB6-4F15ED15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7924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A16"/>
                </a:solidFill>
              </a:defRPr>
            </a:pPr>
            <a:r>
              <a:rPr sz="3150" b="1">
                <a:solidFill>
                  <a:srgbClr val="171A16"/>
                </a:solidFill>
              </a:rPr>
              <a:t>What gets submitted</a:t>
            </a:r>
          </a:p>
        </p:txBody>
      </p:sp>
      <p:sp>
        <p:nvSpPr>
          <p:cNvPr id="6" name="bullet-dot">
            <a:extLst xmlns:a="http://schemas.openxmlformats.org/drawingml/2006/main">
              <a:ext uri="{FF2B5EF4-FFF2-40B4-BE49-F238E27FC236}">
                <a16:creationId xmlns:a16="http://schemas.microsoft.com/office/drawing/2014/main" id="{8FA2C7EC-DC69-4D6E-974C-F53A092A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7" name="bullet-copy">
            <a:extLst xmlns:a="http://schemas.openxmlformats.org/drawingml/2006/main">
              <a:ext uri="{FF2B5EF4-FFF2-40B4-BE49-F238E27FC236}">
                <a16:creationId xmlns:a16="http://schemas.microsoft.com/office/drawing/2014/main" id="{7E2773E9-3DB4-4BC2-9F5F-67E537E7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Agent link + Agent ID + best call recording</a:t>
            </a:r>
          </a:p>
        </p:txBody>
      </p:sp>
      <p:sp>
        <p:nvSpPr>
          <p:cNvPr id="8" name="bullet-dot">
            <a:extLst xmlns:a="http://schemas.openxmlformats.org/drawingml/2006/main">
              <a:ext uri="{FF2B5EF4-FFF2-40B4-BE49-F238E27FC236}">
                <a16:creationId xmlns:a16="http://schemas.microsoft.com/office/drawing/2014/main" id="{E30BE5DD-5D16-4704-9477-2817045D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CAB"/>
          </a:solidFill>
          <a:ln xmlns:a="http://schemas.openxmlformats.org/drawingml/2006/main" w="0">
            <a:solidFill>
              <a:srgbClr val="4C8CAB"/>
            </a:solidFill>
            <a:prstDash val="solid"/>
          </a:ln>
        </p:spPr>
      </p:sp>
      <p:sp>
        <p:nvSpPr>
          <p:cNvPr id="9" name="bullet-copy">
            <a:extLst xmlns:a="http://schemas.openxmlformats.org/drawingml/2006/main">
              <a:ext uri="{FF2B5EF4-FFF2-40B4-BE49-F238E27FC236}">
                <a16:creationId xmlns:a16="http://schemas.microsoft.com/office/drawing/2014/main" id="{FBE19BA2-7650-4A2E-8DB7-8689CC7B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GitHub repo + deployed app link</a:t>
            </a:r>
          </a:p>
        </p:txBody>
      </p:sp>
      <p:sp>
        <p:nvSpPr>
          <p:cNvPr id="10" name="bullet-dot">
            <a:extLst xmlns:a="http://schemas.openxmlformats.org/drawingml/2006/main">
              <a:ext uri="{FF2B5EF4-FFF2-40B4-BE49-F238E27FC236}">
                <a16:creationId xmlns:a16="http://schemas.microsoft.com/office/drawing/2014/main" id="{928B0C21-0B71-4D7D-AEDF-69BCED50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634"/>
          </a:solidFill>
          <a:ln xmlns:a="http://schemas.openxmlformats.org/drawingml/2006/main" w="0">
            <a:solidFill>
              <a:srgbClr val="E3A634"/>
            </a:solidFill>
            <a:prstDash val="solid"/>
          </a:ln>
        </p:spPr>
      </p:sp>
      <p:sp>
        <p:nvSpPr>
          <p:cNvPr id="11" name="bullet-copy">
            <a:extLst xmlns:a="http://schemas.openxmlformats.org/drawingml/2006/main">
              <a:ext uri="{FF2B5EF4-FFF2-40B4-BE49-F238E27FC236}">
                <a16:creationId xmlns:a16="http://schemas.microsoft.com/office/drawing/2014/main" id="{0D5E270F-F0B6-489A-B771-3182A0FD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Screen recording: user → app → agent → backend → output</a:t>
            </a:r>
          </a:p>
        </p:txBody>
      </p:sp>
      <p:sp>
        <p:nvSpPr>
          <p:cNvPr id="12" name="bullet-dot">
            <a:extLst xmlns:a="http://schemas.openxmlformats.org/drawingml/2006/main">
              <a:ext uri="{FF2B5EF4-FFF2-40B4-BE49-F238E27FC236}">
                <a16:creationId xmlns:a16="http://schemas.microsoft.com/office/drawing/2014/main" id="{D56AADA1-A642-4795-AD96-237B51D1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5C4D"/>
          </a:solidFill>
          <a:ln xmlns:a="http://schemas.openxmlformats.org/drawingml/2006/main" w="0">
            <a:solidFill>
              <a:srgbClr val="B85C4D"/>
            </a:solidFill>
            <a:prstDash val="solid"/>
          </a:ln>
        </p:spPr>
      </p:sp>
      <p:sp>
        <p:nvSpPr>
          <p:cNvPr id="13" name="bullet-copy">
            <a:extLst xmlns:a="http://schemas.openxmlformats.org/drawingml/2006/main">
              <a:ext uri="{FF2B5EF4-FFF2-40B4-BE49-F238E27FC236}">
                <a16:creationId xmlns:a16="http://schemas.microsoft.com/office/drawing/2014/main" id="{2750904A-AF8A-4786-B5AF-025415D8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Copy-paste success answers from docs/SUBMISSION_ANSWERS.md</a:t>
            </a:r>
          </a:p>
        </p:txBody>
      </p:sp>
      <p:sp>
        <p:nvSpPr>
          <p:cNvPr id="14" name="submit-right-title">
            <a:extLst xmlns:a="http://schemas.openxmlformats.org/drawingml/2006/main">
              <a:ext uri="{FF2B5EF4-FFF2-40B4-BE49-F238E27FC236}">
                <a16:creationId xmlns:a16="http://schemas.microsoft.com/office/drawing/2014/main" id="{F84AD494-192D-40F4-B4AE-4A6CD124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7924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A16"/>
                </a:solidFill>
              </a:defRPr>
            </a:pPr>
            <a:r>
              <a:rPr sz="3150" b="1">
                <a:solidFill>
                  <a:srgbClr val="171A16"/>
                </a:solidFill>
              </a:rPr>
              <a:t>Expansion story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DD5E453F-CAE4-4B0C-B47F-1BA8605A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4E"/>
          </a:solidFill>
          <a:ln xmlns:a="http://schemas.openxmlformats.org/drawingml/2006/main" w="0">
            <a:solidFill>
              <a:srgbClr val="2F6F4E"/>
            </a:solidFill>
            <a:prstDash val="solid"/>
          </a:ln>
        </p:spPr>
      </p:sp>
      <p:sp>
        <p:nvSpPr>
          <p:cNvPr id="1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C23675DC-EEA2-4BB1-B59A-46AC74DA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766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NoBroker rentals → sales → home services.</a:t>
            </a:r>
          </a:p>
        </p:txBody>
      </p:sp>
      <p:sp>
        <p:nvSpPr>
          <p:cNvPr id="17" name="bullet-dot">
            <a:extLst xmlns:a="http://schemas.openxmlformats.org/drawingml/2006/main">
              <a:ext uri="{FF2B5EF4-FFF2-40B4-BE49-F238E27FC236}">
                <a16:creationId xmlns:a16="http://schemas.microsoft.com/office/drawing/2014/main" id="{04BD1CFF-AF37-4109-B88F-56CC601A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52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CAB"/>
          </a:solidFill>
          <a:ln xmlns:a="http://schemas.openxmlformats.org/drawingml/2006/main" w="0">
            <a:solidFill>
              <a:srgbClr val="4C8CAB"/>
            </a:solidFill>
            <a:prstDash val="solid"/>
          </a:ln>
        </p:spPr>
      </p:sp>
      <p:sp>
        <p:nvSpPr>
          <p:cNvPr id="1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8CDA38CD-7829-4238-A09D-42DB424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52900"/>
            <a:ext cx="7677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Next 5: Housing.com, 99acres, MagicBricks, Square Yards, Stanza/Colive.</a:t>
            </a:r>
          </a:p>
        </p:txBody>
      </p:sp>
      <p:sp>
        <p:nvSpPr>
          <p:cNvPr id="19" name="bullet-dot">
            <a:extLst xmlns:a="http://schemas.openxmlformats.org/drawingml/2006/main">
              <a:ext uri="{FF2B5EF4-FFF2-40B4-BE49-F238E27FC236}">
                <a16:creationId xmlns:a16="http://schemas.microsoft.com/office/drawing/2014/main" id="{943C4B86-D372-451E-AEAB-3E3C2464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57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634"/>
          </a:solidFill>
          <a:ln xmlns:a="http://schemas.openxmlformats.org/drawingml/2006/main" w="0">
            <a:solidFill>
              <a:srgbClr val="E3A634"/>
            </a:solidFill>
            <a:prstDash val="solid"/>
          </a:ln>
        </p:spPr>
      </p:sp>
      <p:sp>
        <p:nvSpPr>
          <p:cNvPr id="2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0F11F9F2-DA68-4764-A4FF-2BDE02C4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577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6"/>
                </a:solidFill>
              </a:defRPr>
            </a:pPr>
            <a:r>
              <a:rPr sz="1875">
                <a:solidFill>
                  <a:srgbClr val="171A16"/>
                </a:solidFill>
              </a:rPr>
              <a:t>Standalone product stays trademark-safe as TheNiceBroker.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922AF178-1F23-42E3-8404-0981ED1D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67850"/>
            <a:ext cx="1653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6F65"/>
                </a:solidFill>
              </a:defRPr>
            </a:pPr>
            <a:r>
              <a:rPr sz="1125">
                <a:solidFill>
                  <a:srgbClr val="746F65"/>
                </a:solidFill>
              </a:rPr>
              <a:t>Drive folder target: Sharat_FSE@bolna</a:t>
            </a:r>
          </a:p>
        </p:txBody>
      </p:sp>
    </p:spTree>
    <p:extLst>
      <p:ext uri="{BB962C8B-B14F-4D97-AF65-F5344CB8AC3E}">
        <p14:creationId xmlns:p14="http://schemas.microsoft.com/office/powerpoint/2010/main" val="331157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2026-04-25T20:16:52.0880000Z</dcterms:created>
  <dcterms:modified xsi:type="dcterms:W3CDTF">2026-04-25T20:16:52.0880000Z</dcterms:modified>
</coreProperties>
</file>